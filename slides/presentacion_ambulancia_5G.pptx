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800" b="1">
                <a:solidFill>
                  <a:srgbClr val="202020"/>
                </a:solidFill>
              </a:rPr>
              <a:t>Ambulancia inteligente sobre red 5G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555555"/>
                </a:solidFill>
              </a:rPr>
              <a:t>Co-simulación SUMO + ns-3 (5G-LENA)</a:t>
            </a:r>
          </a:p>
          <a:p>
            <a:pPr algn="ctr">
              <a:spcAft>
                <a:spcPts val="800"/>
              </a:spcAft>
            </a:pPr>
            <a:r>
              <a:rPr sz="2000" b="0">
                <a:solidFill>
                  <a:srgbClr val="555555"/>
                </a:solidFill>
              </a:rPr>
              <a:t>mMTC · URLLC + eMBB · Network slicing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</a:rPr>
              <a:t>PARTE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800" b="1">
                <a:solidFill>
                  <a:srgbClr val="202020"/>
                </a:solidFill>
              </a:rPr>
              <a:t>Arquitectura y parámetros de la red 5G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202020"/>
                </a:solidFill>
              </a:rPr>
              <a:t>Flujo del proyecto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bentConnector3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diagrama_fluj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299" y="1463040"/>
            <a:ext cx="915509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202020"/>
                </a:solidFill>
              </a:rPr>
              <a:t>Parámetros generales de la red 5G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bentConnector3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0" y="1554480"/>
          <a:ext cx="92354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5212080"/>
              </a:tblGrid>
              <a:tr h="3962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Parámetro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Valor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Frecuencia portadora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3.5 GHz (banda n78, FR1)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Ancho de banda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10 – 20 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Numerología (SCS)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1  (30 kHz)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Duplexación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TDD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Modelo de propagación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3GPP Urban Macro (UMa)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Potencia Tx  (gNB / 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43 dBm / 23 dBm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Antenas  (gNB / 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4×8 / 2×4  (MIMO)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Scheduler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OFDMA Round-Robin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Slicing / QoS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2 bandwidth parts:  URLLC / eMBB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Handover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X2  (multi-celda)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Núcleo de 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EPC (5G-LENA)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</a:rPr>
              <a:t>PARTE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800" b="1">
                <a:solidFill>
                  <a:srgbClr val="202020"/>
                </a:solidFill>
              </a:rPr>
              <a:t>mMTC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</a:rPr>
              <a:t>Massive Machine Type Communication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202020"/>
                </a:solidFill>
              </a:rPr>
              <a:t>mMTC — comunicación masiva de máquinas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bentConnector3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Se consideran todos los vehículos de la ciudad en tiempo real para: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•  Definir dinámicamente la ruta más corta de la ambulancia según el tráfico real.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•  Poner los semáforos en verde a lo largo de la ruta (preempción), despejando el paso.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•  El control se hace con TraCI sobre SUMO, con tráfico real y un accidente que obliga a re-rutear.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202020"/>
                </a:solidFill>
              </a:rPr>
              <a:t>Ruta generada por SUMO + TraCI (con accidente y tráfico real)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bentConnector3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mapa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389" y="1417320"/>
            <a:ext cx="4930917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264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55555"/>
                </a:solidFill>
              </a:rPr>
              <a:t>La ambulancia recalcula su ruta al detectar el accidente; los gNBs son las celdas que la sirven.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202020"/>
                </a:solidFill>
              </a:rPr>
              <a:t>Conectividad 5G a lo largo de la ruta (SINR vs. tiempo)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bentConnector3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in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75" y="1417320"/>
            <a:ext cx="10753344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264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55555"/>
                </a:solidFill>
              </a:rPr>
              <a:t>Con varias celdas y handover, el SINR no cae a cero: la conexión se mantiene todo el trayecto.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202020"/>
                </a:solidFill>
              </a:rPr>
              <a:t>Efecto de la asistencia 5G en el tiempo de viaje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bentConnector3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iste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417320"/>
            <a:ext cx="10789920" cy="39563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264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55555"/>
                </a:solidFill>
              </a:rPr>
              <a:t>El re-ruteo dinámico y la preempción de semáforos reducen el tiempo de viaje y las detenciones.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</a:rPr>
              <a:t>PARTE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800" b="1">
                <a:solidFill>
                  <a:srgbClr val="202020"/>
                </a:solidFill>
              </a:rPr>
              <a:t>Generación de tráfico 5G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202020"/>
                </a:solidFill>
              </a:rPr>
              <a:t>Filtrado de los gNBs que cruza la ruta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bentConnector3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obertu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906" y="1417320"/>
            <a:ext cx="4887883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264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55555"/>
                </a:solidFill>
              </a:rPr>
              <a:t>Toda la ciudad tiene cobertura 5G (35 gNBs); se filtran las celdas por las que pasa la ambulancia.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202020"/>
                </a:solidFill>
              </a:rPr>
              <a:t>Autos que compartieron celda con la ambulancia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bentConnector3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ompetido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389" y="1417320"/>
            <a:ext cx="4930917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264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55555"/>
                </a:solidFill>
              </a:rPr>
              <a:t>Se filtran los autos que estuvieron en esas celdas en los mismos instantes; sus rutas generan el tráfico en ns-3.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</a:rPr>
              <a:t>PARTE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800" b="1">
                <a:solidFill>
                  <a:srgbClr val="202020"/>
                </a:solidFill>
              </a:rPr>
              <a:t>URLLC + eMBB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202020"/>
                </a:solidFill>
              </a:rPr>
              <a:t>La ambulancia transmite al hospital por 5G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bentConnector3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La ambulancia envía datos al servidor del hospital por la red 5G: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•  Video en tiempo real  →  eMBB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•  Signos vitales  →  URLLC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Se hicieron 3 simulaciones en ns-3: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   1)  Solo tráfico de la ambulancia.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   2)  Ambulancia + autos, sin slicing.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   3)  Ambulancia + autos, con slicing.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El video de la ambulancia y el tráfico de los autos son ambos eMBB.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202020"/>
                </a:solidFill>
              </a:rPr>
              <a:t>¿Qué es el network slicing?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bentConnector3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El slicing divide los recursos de radio en rebanadas independientes, una por servicio: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•  El espectro se parte en 2 bandas dedicadas: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      –  una para URLLC (signos vitales), aislada.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      –  otra para eMBB (video + tráfico de los autos).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02020"/>
                </a:solidFill>
              </a:rPr>
              <a:t>•  Aunque la banda eMBB se sature, el tráfico crítico URLLC viaja en recursos separados y queda protegido.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202020"/>
                </a:solidFill>
              </a:rPr>
              <a:t>Resultado: URLLC vs eMBB en las 3 simulaciones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bentConnector3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as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417320"/>
            <a:ext cx="10789920" cy="31722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264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55555"/>
                </a:solidFill>
              </a:rPr>
              <a:t>Sin slicing se pierde el tráfico crítico bajo carga; con slicing los signos vitales se entregan intactos.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202020"/>
                </a:solidFill>
              </a:rPr>
              <a:t>Scheduler — throughput por flujo en el tiempo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bentConnector3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ched_th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389" y="1417320"/>
            <a:ext cx="4930917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264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55555"/>
                </a:solidFill>
              </a:rPr>
              <a:t>El Round-Robin reparte la celda entre ambulancia y autos; con slicing los vitales ocupan una franja aislada.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202020"/>
                </a:solidFill>
              </a:rPr>
              <a:t>Scheduler — reparto de recursos por flujo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bentConnector3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ched_re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417320"/>
            <a:ext cx="10789920" cy="3596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264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55555"/>
                </a:solidFill>
              </a:rPr>
              <a:t>Sin slicing el reparto es parejo; con slicing los signos vitales tienen su porción reservada.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